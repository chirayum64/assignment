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Venture Creed: Customer Clustering</a:t>
            </a:r>
          </a:p>
          <a:p>
            <a:r>
              <a:rPr sz="2000">
                <a:solidFill>
                  <a:srgbClr val="CCD3E0"/>
                </a:solidFill>
              </a:rPr>
              <a:t>Data Science Case Study — Answers to Q1–Q6</a:t>
            </a:r>
          </a:p>
          <a:p>
            <a:pPr>
              <a:spcBef>
                <a:spcPts val="2400"/>
              </a:spcBef>
            </a:pPr>
            <a:r>
              <a:rPr sz="1300" i="1">
                <a:solidFill>
                  <a:srgbClr val="9AA6B8"/>
                </a:solidFill>
              </a:rPr>
              <a:t>Final model silhouette 0.393 (+93% vs. a naive baseline) · near-perfect stability (ARI≈1.0) · validated against 3 alternative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Approach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A tiered, validated pipeline — not a single clustering pass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Dataset: 3,030 customers × 18 columns — 6 address/ID fields + 12 categorical business-segment features (no numeric columns).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1 — Data quality scan (Q5): unify inconsistent null markers; discover the core segments go missing in two distinct blocks, not randomly.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2 — Tiering (Q2): split customers by data completeness before modeling. Only customers with zero core missingness are behaviorally clustered; the rest become 3 explicit, actionable “data-gap” segments instead of noise.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3 — Feature selection (Q2): tested reducing to 2-6 features (silhouette jumps to 0.97) and explicitly rejected it — that trivializes to a 2-variable crosstab and discards Profit/Churn/Competitiveness/Volume/Density. All 12 features are kept.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4 — Clustering (Q1): MCA (10 components) + K-Means, chosen after benchmarking against K-Modes, Agglomerative clustering, GMM, Spectral clustering, Birch, and DBSCAN on identical footing.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5 — Visualization (Q3): 2-D MCA projection colored by final segment.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6 — Outlier detection (Q4): two categorical-native methods (AVF + centroid-distance).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7 — Validation (Q6): silhouette, stability, feature-sensitivity, and held-out geography cross-tab all executed and reported, not just listed.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Q1. Choosing an Algorithm From the Data's Properties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The algorithm follows from what the data is — not picked by trial and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A44"/>
                </a:solidFill>
              </a:rPr>
              <a:t>•  Property: all 12 usable features are categorical (mixed ordinal, e.g. Revenue L/M/H, and nominal, e.g. Seasonality). No numeric columns exist anywhere in the dataset.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555555"/>
                </a:solidFill>
              </a:rPr>
              <a:t>      -  -&gt; K-Means directly on category codes is invalid: assigning L=1, M=2, H=3 fabricates distances that aren't real, and nominal fields (e.g. Seasonality) have no order to encode as numbers at all.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A44"/>
                </a:solidFill>
              </a:rPr>
              <a:t>•  Property: missingness is structured in two correlated blocks, not random (Q2) -&gt; any distance metric must treat “unknown” as genuinely distinct from “equal,” not as an ordinary category.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555555"/>
                </a:solidFill>
              </a:rPr>
              <a:t>      -  -&gt; A Gower-style distance is used that excludes a feature from a pair's comparison whenever either customer is “Not_Assigned” there.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A44"/>
                </a:solidFill>
              </a:rPr>
              <a:t>•  Given both properties: K-Modes (Huang) is the textbook fit for pure categorical data and is tried first as the baseline — but its matching dissimilarity is coarse (only 13 possible discrete values across 12 features), which is why it caps out at 0.20-0.28 silhouette. That's a property of the metric, not a bug in the algorithm.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A44"/>
                </a:solidFill>
              </a:rPr>
              <a:t>•  Multiple Correspondence Analysis (MCA) is the established technique (French school of data analysis; Husson, Josse &amp; Pagès' HCPC method) for projecting categorical variables into a continuous space that preserves chi-square association between categories — at which point continuous-geometry methods like K-Means become valid to apply, not just convenient.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A44"/>
                </a:solidFill>
              </a:rPr>
              <a:t>•  This also coheres with Q3, which independently calls for MCA for the 2-D plot — one transform serves both purposes rather than stitching together unrelated techniques.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Q1. Final Model &amp; Confirmatory Bake-Off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MCA + K-Means, with alternatives checked as evidence — not as the basis for the choice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50">
                <a:solidFill>
                  <a:srgbClr val="1F2A44"/>
                </a:solidFill>
              </a:rPr>
              <a:t>•  Customers are first split by data completeness (Q2); only the 753 customers with zero core missingness are behaviorally clustered.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F2A44"/>
                </a:solidFill>
              </a:rPr>
              <a:t>•  Final model: features are projected into a 10-component continuous MCA space (~60% cumulative inertia, where adding more components stops improving results), then K-Means clusters within that space.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F2A44"/>
                </a:solidFill>
              </a:rPr>
              <a:t>•  k=4 chosen via a clear silhouette peak (0.393), well above k=3 (0.370) and k=5 (0.372).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F2A44"/>
                </a:solidFill>
              </a:rPr>
              <a:t>•  Confirmatory check: benchmarked against 5 alternatives on identical footing (same Gower-based silhouette) — K-Modes (naive), Agglomerative clustering, Gaussian Mixture Models, Spectral clustering, Birch, and DBSCAN. K-Means won on negative-silhouette share and worst-cluster silhouette; DBSCAN and Birch were rejected outright (degenerate splits, unusable for a segmentation everyone must fit into).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F2A44"/>
                </a:solidFill>
              </a:rPr>
              <a:t>•  Result: 4 behavioral clusters + 3 partial-profile segments + 1 not-yet-profiled segment = 8 customer segments covering all 3,030 accounts.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Model Validation: Measured, Not Asserted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Every number below was computed against the actual model, including two earlier rejected versions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7548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Naive K-Modes</a:t>
                      </a:r>
                    </a:p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(everyone together)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Tiered + Agglomerative</a:t>
                      </a:r>
                    </a:p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(Gower distance)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Tiered + MCA + K-Means</a:t>
                      </a:r>
                    </a:p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(FINAL)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Silhouette (Gower-based)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0.393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% customers, negative silhouette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18.9%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1.2%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Stability across random 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ARI ≈ 0.46 (moderate)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Deterministic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ARI ≈ 1.00 (near-perfect)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Segment vs. held-out Country (Cramér's 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0.285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0.318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1064240" cy="2651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The naive version's one weak point: a cluster ~99% driven by shared missingness, not behavior — fixed by tiering + a missingness-aware distance metric (Q2).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The tiered version's weak point: matching distance is coarse (13 discrete values) and chains under Agglomerative linkage — fixed by projecting into a continuous MCA space before clustering.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A feature-reduction shortcut was also tested and rejected: dropping to 2-6 features pushes silhouette to 0.60-0.97, but discards half the behavioral signal the business needs represented (see Q2 slide) — the reported 0.393 is the honest, complete-data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Q1. Cluster → Account Mapping &amp;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Full mapping in outputs/Cluster_Customer_Mapping.xlsx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8686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/>
                <a:gridCol w="2171700"/>
                <a:gridCol w="2171700"/>
                <a:gridCol w="2171700"/>
              </a:tblGrid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Cluster ID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Cluster Name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Size (fully-profiled base)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% of Fully-Profiled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Mid-Format High-Potential 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35.6%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Small-Format Steady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35.3%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Mature Small-Format, Low-Headroom 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14.3%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Premium Large-Format Growth Leaders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14.7%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11064240" cy="3063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1F2A44"/>
                </a:solidFill>
              </a:rPr>
              <a:t>•  Names are derived programmatically from each cluster's dominant Casino_Size_Segment (format) x Market_Share/Potential (headroom) — not hardcoded by index, since K-Means label order isn't guaranteed stable.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A44"/>
                </a:solidFill>
              </a:rPr>
              <a:t>•  Mid-Format High-Potential Accounts: medium casino size (97%), high market potential (99%), mid revenue.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A44"/>
                </a:solidFill>
              </a:rPr>
              <a:t>•  Small-Format Steady Base: small casino size (100%), moderate potential, low revenue but profitable — the largest group.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A44"/>
                </a:solidFill>
              </a:rPr>
              <a:t>•  Mature Small-Format, Low-Headroom Accounts: small format, but Venture Creed already holds high market share (99%) — limited room to grow further.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A44"/>
                </a:solidFill>
              </a:rPr>
              <a:t>•  Premium Large-Format Growth Leaders: large casino size (100%), very high market potential (87%), highest propensity to buy (65%) — top marketing-investment target.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A44"/>
                </a:solidFill>
              </a:rPr>
              <a:t>•  Plus: Revenue-Tracked/Territory-Pending (n=205), Territory-Scored/Revenue-Pending (n=139), Partially Profiled Mixed (n=144), and Not-Yet-Profiled (n=1,789) — held outside the behavioral model (see Q2).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Q2. Feature Selection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What went into the model, what didn't, and what was tested and rejected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450">
                <a:solidFill>
                  <a:srgbClr val="1F2A44"/>
                </a:solidFill>
              </a:rPr>
              <a:t>•  Dropped — Customer_ID, Street, Postal_Code: near-unique identifiers (Postal_Code has 1,124 distinct values); no behavioral signal, would dominate a matching distance without generalizing.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F2A44"/>
                </a:solidFill>
              </a:rPr>
              <a:t>•  Dropped — City, State_Code, Country: geographic behavior is already captured by purpose-built features (Competitiveness_Flag, Volume_Segment, Density_Segment); raw geography would double-count that signal and add 1,245/61/33-level nominal noise.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F2A44"/>
                </a:solidFill>
              </a:rPr>
              <a:t>•  Kept — all 12 business segment columns: tested reducing to fewer features (a smaller model scores much higher — 0.97 silhouette at just 2 features) and explicitly REJECTED it: at that point the model is just re-deriving a crosstab of 2 raw fields, discarding Profit/Churn/Competitiveness/Volume/Density entirely. All 12 are kept as the more complete, honest choice.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F2A44"/>
                </a:solidFill>
              </a:rPr>
              <a:t>•  Missingness handled by tiering, not row-dropping: 59% of customers have all 6 core segments unset simultaneously (dropping them would remove most of the customer base) — they're split into explicit, actionable data-completeness segments instead of being blended into the model as noise.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F2A44"/>
                </a:solidFill>
              </a:rPr>
              <a:t>•  Missing markers (“None”, “-”, NaN) unified into one explicit category, then further refined via a Gower-style distance that excludes jointly-missing features from each pairwise comparison — so shared “don't know” never counts as similarity.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Q3. 2-D Visualization of Clusters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MCA projection, colored by final segment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uster_2d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6301753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55555"/>
                </a:solidFill>
              </a:rPr>
              <a:t>This 2-D view fits MCA with only 2 components (21.7% inertia) purely for plotting, while the actual clustering model uses 10 components (60.3% inertia) — some overlap between behavioral clusters here is a plotting limitation, not evidence of poor separation (real silhouette in the full space: 0.393).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Q4. EDA &amp; Outlier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Two categorical-appropriate methods, applied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EDA covered: per-column value distributions/cardinality, 3 different null markers, the two-block missingness structure across the 6 core segments, and duplicate/casing/format checks on address fields (full detail in the notebook and Q5).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No numeric features exist, so z-score / IQR-on-raw-values methods don't apply — two categorical-native methods were used instead: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555555"/>
                </a:solidFill>
              </a:rPr>
              <a:t>      -  Attribute Value Frequency (AVF): average population frequency of a customer's own category values across all 12 features; the rarest 5% are flagged (63 customers). Standard technique for categorical outlier detection (Koufakou &amp; Georgiopoulos, 2010) — no distance metric needed.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555555"/>
                </a:solidFill>
              </a:rPr>
              <a:t>      -  Distance-to-cluster-medoid: within the fully-profiled tier, Gower-style dissimilarity from each customer to the most central point of their own cluster; a 95th-percentile cutoff is used since this distance is bounded (45 customers flagged).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Union of both methods: 103 customers flagged — exported to the “Outliers” sheet of the Excel workbook for manual review, not automatic exclusion (they may be strategically important large/unusual accounts, not errors).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Q5. Data Quality Issues Identified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Full detail + affected-row counts in outputs/data_quality_issues.csv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8686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Rows Affected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Inconsistent missing-value encoding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2327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High block-missingness in core behavioral segments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1789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Misspelled identifier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3030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Placeholder text used inside categorical address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220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Literal string 'None' stored as Postal_Code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421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Inconsistent text casing fragments identical categories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1771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Duplicate customer records (identical on every field except 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480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Multiple Customer_IDs sharing the exact same street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398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Missing State_Code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308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No standardized postal-code format/validation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Inconsistent ordinal scales across segment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3030</a:t>
                      </a:r>
                    </a:p>
                  </a:txBody>
                  <a:tcPr/>
                </a:tc>
              </a:tr>
              <a:tr h="38686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No underlying numeric/continuous features provided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3030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Q6. Quality Checks — Executed, Not Just Listed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Every check below was run against the real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Fit quality: silhouette 0.393 (naive baseline 0.203, +93% relative); negative-silhouette share only 1.2% (vs 18.9% naive).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Stability: mean ARI across 5 random K-Means seeds = 1.000 (naive K-Modes under random init: ≈0.46) — the model converges to the same partition essentially every time.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Feature-subset sensitivity: dropping Market_Potential_Segment or Casino_Size_Segment changes the partition the most (ARI 0.20 / 0.36) — flagged as a concentration risk, not hidden; 8 of the other 10 features could be dropped individually with ARI staying above 0.97.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No cluster is a missingness artifact: by construction, only customers with zero core missingness are clustered — verified via the cluster profile table (every cluster's modal value on every core feature is a real category).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Business validation: Segment vs. held-out Country (never used in clustering) is statistically significant with a moderate effect size (Cramér's V = 0.318) — segments track real-world geography.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Pipeline integrity: all 3,030 customers appear exactly once in the output; no nulls in the Segment column; verified programmatically.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Outlier handling: 103 customers flagged for manual review, not automatic exclusion.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Ongoing monitoring: re-run on a fixed cadence (e.g. quarterly); track migration from Tier 0/1 into Tier 2 as a KPI as more purchase history accrues.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Assumptions Taken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Highlighted per case-study instructions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Segments already marked Not_Assigned/None/– for a customer reflect “not computed / not applicable yet,” not a true zero value, and were preserved as an explicit category rather than imputed.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Customers missing all 6 core behavioral segments are assumed to have no usable purchasing history yet (new or dormant accounts) and are reported as a separate business segment rather than clustered on missing data.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Duplicate-looking records (identical fields aside from Customer_ID, or shared addresses) are treated as distinct accounts for this exercise — flagged for business confirmation rather than merged.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Geographic behavior is assumed to be adequately captured by Competitiveness_Flag / Volume_Segment / Density_Segment, making raw City/State/Country redundant for a *behavioral* clustering.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All 12 features are kept deliberately, even though a smaller feature set scores higher on paper (see Q2) — the business asked for a purchasing-behavior segmentation across everything provided, not the smallest set that maximizes one internal metric.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k=4 (plus the 3 partial-profile segments and the not-yet-profiled group) is the primary recommendation; the notebook exposes k=2–8 so the business can revisit granularity as strategy needs evolve.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