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Venture Creed: Customer Clustering</a:t>
            </a:r>
          </a:p>
          <a:p>
            <a:r>
              <a:rPr sz="2000">
                <a:solidFill>
                  <a:srgbClr val="CCD3E0"/>
                </a:solidFill>
              </a:rPr>
              <a:t>Data Science Case Study — Answers to Q1–Q6</a:t>
            </a:r>
          </a:p>
          <a:p>
            <a:pPr>
              <a:spcBef>
                <a:spcPts val="3000"/>
              </a:spcBef>
            </a:pPr>
            <a:r>
              <a:rPr sz="1400" i="1">
                <a:solidFill>
                  <a:srgbClr val="9AA6B8"/>
                </a:solidFill>
              </a:rPr>
              <a:t>Approach, model, visualization, data quality, and validation plan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Approach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How the six questions map to one coherent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5349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</a:rPr>
              <a:t>•  Dataset: 3,030 customers × 18 columns — 6 address/ID fields + 12 categorical business-segment features (no numeric columns).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</a:rPr>
              <a:t>•  Step 1 — Data quality scan (Q5): unify inconsistent null markers, flag typos/duplicates/format issues.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</a:rPr>
              <a:t>•  Step 2 — Feature selection (Q2): drop identifiers/high-cardinality address fields; separate customers with zero behavioral signal from the rest.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</a:rPr>
              <a:t>•  Step 3 — Clustering (Q1): K-Modes on the 12 behavioral segments for the profiled customers; k chosen via cost + silhouette.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</a:rPr>
              <a:t>•  Step 4 — Visualization (Q3): 2-D Multiple Correspondence Analysis (MCA), colored by cluster.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</a:rPr>
              <a:t>•  Step 5 — Outlier detection (Q4): Attribute Value Frequency + distance-to-cluster-centroid, both suited to categorical data.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</a:rPr>
              <a:t>•  Step 6 — Validation plan (Q6): stability, sensitivity, and business-facing checks before the segmentation is used operationally.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F2A44"/>
                </a:solidFill>
              </a:rPr>
              <a:t>•  All code lives in analysis/clustering_analysis.ipynb (executed, outputs embedded); all data outputs in analysis/outputs/.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Q1. Clustering Logic &amp;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K-Modes on categorical purchasing-behavior segments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5349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All retained features are categorical (ordinal or nominal) — K-Means / Euclidean distance do not apply.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K-Modes (Huang, 1998) is used instead: cluster centers are the modal category per feature; dissimilarity between two customers = fraction of the 12 features where their values differ (simple matching dissimilarity).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Customers are first split into “behaviorally scored” (n=1,241) vs. “not-yet-profiled” (n=1,789, all 6 core segments unset) — clustering only the scored group avoids one giant cluster driven purely by missing data (see Q2).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Choosing k: tracked K-Modes cost (elbow) and silhouette score (on the full pairwise Hamming-distance matrix) for k = 2–8.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Cost drops sharply and silhouette roughly doubles (0.14 → 0.20) going from k=5 to k=6; k=7 gives only a marginal further gain at the cost of one small, less interpretable cluster → k = 6 selected.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Result: 6 behavioral clusters + 1 “not-yet-profiled” group = 7 customer segments covering all 3,030 accounts.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Q1. Cluster → Account Mapping &amp; Statistics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Full mapping in outputs/Cluster_Customer_Mapping.xlsx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73152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33963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Cluster ID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Cluster Name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Size (scored base)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% of Scored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Steady Small-Format 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30.9%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Under-Profiled Moderate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14.5%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Emerging High-Potential Adopters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14.2%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Premium Growth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14.8%</a:t>
                      </a:r>
                    </a:p>
                  </a:txBody>
                  <a:tcPr/>
                </a:tc>
              </a:tr>
              <a:tr h="339634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Mature Low-Headroom Small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10.2%</a:t>
                      </a:r>
                    </a:p>
                  </a:txBody>
                  <a:tcPr/>
                </a:tc>
              </a:tr>
              <a:tr h="339636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High-Density Competitive, Thin-Profile Accounts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22222"/>
                          </a:solidFill>
                        </a:defRPr>
                      </a:pPr>
                      <a:r>
                        <a:t>15.4%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77639"/>
            <a:ext cx="110642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F2A44"/>
                </a:solidFill>
              </a:rPr>
              <a:t>•  0 — Steady Small-Format Core: small casino size, moderate share/potential, minimal churn, high-volume/density geography.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44"/>
                </a:solidFill>
              </a:rPr>
              <a:t>•  1 — Under-Profiled Moderate Accounts: share/size/potential mostly unscored; medium volume.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44"/>
                </a:solidFill>
              </a:rPr>
              <a:t>•  2 — Emerging High-Potential Adopters: early adopters, high profit &amp; potential, low volume — emerging markets.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44"/>
                </a:solidFill>
              </a:rPr>
              <a:t>•  3 — Premium Growth Leaders: high revenue/profit/potential/propensity, competitive &amp; dense geography — top marketing-investment target.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44"/>
                </a:solidFill>
              </a:rPr>
              <a:t>•  4 — Mature Low-Headroom Small Accounts: small, already-high share, low remaining potential.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44"/>
                </a:solidFill>
              </a:rPr>
              <a:t>•  5 — High-Density Competitive, Thin-Profile: low revenue in dense, competitive markets; share/size/potential mostly unscored.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F2A44"/>
                </a:solidFill>
              </a:rPr>
              <a:t>•  Plus: Not-Yet-Profiled / New-or-Dormant Accounts (n=1,789) — held out of the model, no behavioral data available yet.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Q2. Feature Selection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What went into the model, and why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5349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1F2A44"/>
                </a:solidFill>
              </a:rPr>
              <a:t>•  Dropped — Customer_ID, Street, Postal_Code: identifiers / near-unique free text (Postal_Code alone has 1,124 distinct values); no direct behavioral signal, would dominate a matching-based distance metric without generalizing.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F2A44"/>
                </a:solidFill>
              </a:rPr>
              <a:t>•  Dropped — City, State_Code, Country: the brief asks for behavior-based clusters, and geographic behavior is already captured by purpose-built features (Competitiveness_Flag, Volume_Segment, Density_Segment). Keeping raw geography too would double-count that signal and add 1,245 / 61 / 33-level nominal noise.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F2A44"/>
                </a:solidFill>
              </a:rPr>
              <a:t>•  Kept — all 12 business segment columns: the only fields that directly describe purchasing/behavioral characteristics.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F2A44"/>
                </a:solidFill>
              </a:rPr>
              <a:t>•  Missingness treated as a modeling decision, not a row-drop: 59% of customers have all 6 core behavioral segments unset simultaneously — dropping incomplete rows would discard most of the customer base.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F2A44"/>
                </a:solidFill>
              </a:rPr>
              <a:t>•  All missing markers (“None”, “-”, NaN) unified into one explicit category, Not_Assigned, per column — missing-ness can itself be informative, and K-Modes treats it as just another category.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1F2A44"/>
                </a:solidFill>
              </a:rPr>
              <a:t>•  Customers with zero behavioral signal are separated out before clustering rather than forced into the model — confirmed empirically: clustering the full base produces a dominant cluster that is really just “all fields Not_Assigned”, not a genuine behavioral group (low silhouette regardless of k).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Q3. 2-D Visualization of Clusters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Multiple Correspondence Analysis (MCA) — the categorical analogue of PCA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uster_2d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1417320"/>
            <a:ext cx="6692601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55555"/>
                </a:solidFill>
              </a:rPr>
              <a:t>MCA reduces the 12 categorical features to 2 dimensions (21.7% of inertia explained) for plotting; PCA is not applicable since there are no numeric features.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Q4. EDA &amp; Outlier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Two categorical-appropriate methods, applied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5349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EDA covered: per-column value distributions and cardinality, missingness by column (3 different null markers found), block-missingness across the 6 core segments, and duplicate/casing/format checks on address fields (full detail in the notebook and Q5).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No numeric features exist, so z-score / IQR-on-raw-values methods don't apply — two categorical-native methods were used instead: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555555"/>
                </a:solidFill>
              </a:rPr>
              <a:t>      -  Attribute Value Frequency (AVF): for each customer, average the population frequency of the categories they hold across all 12 features; customers whose values are individually rare are flagged (bottom 5th percentile → 63 customers). Standard technique for categorical outlier detection (Koufakou &amp; Georgiopoulos, 2010) — needs no distance metric.</a:t>
            </a:r>
          </a:p>
          <a:p>
            <a:pPr>
              <a:spcAft>
                <a:spcPts val="800"/>
              </a:spcAft>
            </a:pPr>
            <a:r>
              <a:rPr sz="1350">
                <a:solidFill>
                  <a:srgbClr val="555555"/>
                </a:solidFill>
              </a:rPr>
              <a:t>      -  Distance-to-own-cluster-centroid: Hamming distance from each customer to their assigned cluster's modal profile. This distance is bounded and only takes 13 discrete values, so a Tukey IQR fence never triggers — a 95th-percentile cutoff is used instead (86 customers flagged).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1F2A44"/>
                </a:solidFill>
              </a:rPr>
              <a:t>•  Union of both methods: 104 customers flagged — exported to outputs/outliers.csv / the “Outliers” sheet of the Excel workbook for manual review (code in the notebook, Section 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Q5. Data Quality Issues Identified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Full detail + affected-row counts in outputs/data_quality_issues.csv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86861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Rows Affected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Inconsistent missing-value encoding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2327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High block-missingness in core behavioral segments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1789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Misspelled identifier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3030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Placeholder text used inside categorical address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220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Literal string 'None' stored as Postal_Code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421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Inconsistent text casing fragments identical 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1771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Duplicate customer records (identical on every field except 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Multiple Customer_IDs sharing the exact same street address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398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Missing State_Code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No standardized postal-code format/validation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Inconsistent ordinal scales across segment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3030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No underlying numeric/continuous features provided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222222"/>
                          </a:solidFill>
                        </a:defRPr>
                      </a:pPr>
                      <a:r>
                        <a:t>3030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Q6. Quality Checks to Validate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Exhaustive checklist across pipeline, model, and business 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5349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Data/pipeline integrity: every customer appears exactly once in the output; no nulls in Cluster_ID/Cluster_Name; cluster IDs within expected range.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No degenerate clusters: enforce a minimum cluster-size floor (e.g. ≥3% of the scored base).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Fit quality: silhouette score above a minimum bar for the chosen k; compare against k±1 to confirm k wasn't cherry-picked off a local blip.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Stability: re-run K-Modes across multiple seeds/n_init and measure agreement via Adjusted Rand Index (target ≥0.8) before trusting the assignment.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Feature-subset sensitivity: re-run leaving one feature out at a time; structure should degrade gracefully, not collapse — confirms no single feature drives all separation.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Guard against the missingness artifact: verify no cluster's dominant modal value across most features is Not_Assigned (the failure mode found and corrected during modeling).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Business validation: cross-tab clusters against held-out fields (e.g. City/Country) for real-world sense-check; review cluster profiles and names with Venture Creed sales/marketing for actionability.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Outlier handling: confirm flagged outliers don't disproportionately anchor a centroid (re-fit excluding them and compare); route to manual review rather than silent drop.</a:t>
            </a:r>
          </a:p>
          <a:p>
            <a:pPr>
              <a:spcAft>
                <a:spcPts val="800"/>
              </a:spcAft>
            </a:pPr>
            <a:r>
              <a:rPr sz="1450">
                <a:solidFill>
                  <a:srgbClr val="1F2A44"/>
                </a:solidFill>
              </a:rPr>
              <a:t>•  Ongoing monitoring: re-run on a fixed cadence (e.g. quarterly) as more customers become “scored”; track migration between clusters/out of “not-yet-profiled” to monitor drift.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F2A44"/>
                </a:solidFill>
              </a:rPr>
              <a:t>Assumptions Taken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555555"/>
                </a:solidFill>
              </a:rPr>
              <a:t>Highlighted per case-study instructions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47120" cy="254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5349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Segments already marked Not_Assigned/None/– for a customer reflect “not computed / not applicable yet”, not a true zero value, and were preserved as an explicit category rather than imputed.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Customers missing all 6 core behavioral segments are assumed to have no usable purchasing history yet (new or dormant accounts) and are reported as a separate business segment rather than clustered on missing data.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Duplicate-looking records (identical fields aside from Customer_ID, or shared addresses) are treated as distinct accounts for this exercise — flagged for business confirmation rather than merged, since merging without domain input risks losing genuinely separate accounts (e.g. multiple properties).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Geographic behavior is assumed to be adequately captured by Competitiveness_Flag / Volume_Segment / Density_Segment, making raw City/State/Country redundant for a *behavioral* clustering (as opposed to a purely geographic one).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A44"/>
                </a:solidFill>
              </a:rPr>
              <a:t>•  k=6 (plus the separate not-yet-profiled group) is treated as the primary recommendation; the notebook exposes k=2–8 so the business can revisit granularity as strategy needs evolve.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